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1"/>
  </p:notesMasterIdLst>
  <p:sldIdLst>
    <p:sldId id="293" r:id="rId5"/>
    <p:sldId id="312" r:id="rId6"/>
    <p:sldId id="317" r:id="rId7"/>
    <p:sldId id="318" r:id="rId8"/>
    <p:sldId id="313" r:id="rId9"/>
    <p:sldId id="297" r:id="rId10"/>
    <p:sldId id="294" r:id="rId11"/>
    <p:sldId id="295" r:id="rId12"/>
    <p:sldId id="314" r:id="rId13"/>
    <p:sldId id="288" r:id="rId14"/>
    <p:sldId id="315" r:id="rId15"/>
    <p:sldId id="301" r:id="rId16"/>
    <p:sldId id="323" r:id="rId17"/>
    <p:sldId id="257" r:id="rId18"/>
    <p:sldId id="258" r:id="rId19"/>
    <p:sldId id="259" r:id="rId20"/>
    <p:sldId id="322" r:id="rId21"/>
    <p:sldId id="319" r:id="rId22"/>
    <p:sldId id="321" r:id="rId23"/>
    <p:sldId id="311" r:id="rId24"/>
    <p:sldId id="332" r:id="rId25"/>
    <p:sldId id="336" r:id="rId26"/>
    <p:sldId id="341" r:id="rId27"/>
    <p:sldId id="344" r:id="rId28"/>
    <p:sldId id="333" r:id="rId29"/>
    <p:sldId id="30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A6DDA04-21DB-4C6D-9112-0FA4F49A0820}">
          <p14:sldIdLst>
            <p14:sldId id="293"/>
            <p14:sldId id="312"/>
            <p14:sldId id="317"/>
            <p14:sldId id="318"/>
          </p14:sldIdLst>
        </p14:section>
        <p14:section name="Growth Refresher" id="{D9CFF777-DBCE-4D8A-8ADA-39D551B3757D}">
          <p14:sldIdLst>
            <p14:sldId id="313"/>
            <p14:sldId id="297"/>
            <p14:sldId id="294"/>
            <p14:sldId id="295"/>
            <p14:sldId id="314"/>
            <p14:sldId id="288"/>
            <p14:sldId id="315"/>
            <p14:sldId id="301"/>
          </p14:sldIdLst>
        </p14:section>
        <p14:section name="DRC Explorations" id="{0788EF2D-403E-49A2-BAB2-AE6029596E4E}">
          <p14:sldIdLst>
            <p14:sldId id="323"/>
            <p14:sldId id="257"/>
            <p14:sldId id="258"/>
            <p14:sldId id="259"/>
          </p14:sldIdLst>
        </p14:section>
        <p14:section name="Nearest Grade Average" id="{8FA28140-1DDD-4993-8970-9D1AAA65FF33}">
          <p14:sldIdLst>
            <p14:sldId id="322"/>
            <p14:sldId id="319"/>
            <p14:sldId id="321"/>
            <p14:sldId id="311"/>
          </p14:sldIdLst>
        </p14:section>
        <p14:section name="NGA Content Areas" id="{769E115E-AA46-4097-A375-12AF8A3445AD}">
          <p14:sldIdLst>
            <p14:sldId id="332"/>
            <p14:sldId id="336"/>
          </p14:sldIdLst>
        </p14:section>
        <p14:section name="NGA EL Progress" id="{8CF27F1F-F515-4FE5-BEEA-B2570607E8D3}">
          <p14:sldIdLst>
            <p14:sldId id="341"/>
            <p14:sldId id="344"/>
            <p14:sldId id="333"/>
          </p14:sldIdLst>
        </p14:section>
        <p14:section name="Discussion Questions" id="{7DF43940-F3B7-4708-AB4F-F35BBD1D42ED}">
          <p14:sldIdLst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B3395A-4153-A166-F03A-721A5ACEA31C}" name="Bailey, Chad (MDE)" initials="CB" userId="S::BaileyC5@michigan.gov::ebfc6420-4800-4a6e-b87d-fe78d66f841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iley, Chad (MDE)" initials="BC(" lastIdx="5" clrIdx="0">
    <p:extLst>
      <p:ext uri="{19B8F6BF-5375-455C-9EA6-DF929625EA0E}">
        <p15:presenceInfo xmlns:p15="http://schemas.microsoft.com/office/powerpoint/2012/main" userId="S::BaileyC5@michigan.gov::ebfc6420-4800-4a6e-b87d-fe78d66f841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7" autoAdjust="0"/>
    <p:restoredTop sz="88497" autoAdjust="0"/>
  </p:normalViewPr>
  <p:slideViewPr>
    <p:cSldViewPr snapToGrid="0">
      <p:cViewPr varScale="1">
        <p:scale>
          <a:sx n="70" d="100"/>
          <a:sy n="70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8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Growth Targets for Previously Non-Proficient Students </a:t>
            </a:r>
          </a:p>
          <a:p>
            <a:pPr>
              <a:defRPr/>
            </a:pPr>
            <a:r>
              <a:rPr lang="en-US"/>
              <a:t>by Grade Group, Content Area, Year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pvt!$C$19</c:f>
              <c:strCache>
                <c:ptCount val="1"/>
                <c:pt idx="0">
                  <c:v>Grades 4-8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pvt!$A$20:$B$28</c:f>
              <c:multiLvlStrCache>
                <c:ptCount val="9"/>
                <c:lvl>
                  <c:pt idx="0">
                    <c:v>2021-22</c:v>
                  </c:pt>
                  <c:pt idx="1">
                    <c:v>2022-23</c:v>
                  </c:pt>
                  <c:pt idx="2">
                    <c:v>2023-24</c:v>
                  </c:pt>
                  <c:pt idx="3">
                    <c:v>2024-25</c:v>
                  </c:pt>
                  <c:pt idx="5">
                    <c:v>2021-22</c:v>
                  </c:pt>
                  <c:pt idx="6">
                    <c:v>2022-23</c:v>
                  </c:pt>
                  <c:pt idx="7">
                    <c:v>2023-24</c:v>
                  </c:pt>
                  <c:pt idx="8">
                    <c:v>2024-25</c:v>
                  </c:pt>
                </c:lvl>
                <c:lvl>
                  <c:pt idx="0">
                    <c:v>ELA</c:v>
                  </c:pt>
                  <c:pt idx="5">
                    <c:v>Math</c:v>
                  </c:pt>
                </c:lvl>
              </c:multiLvlStrCache>
            </c:multiLvlStrRef>
          </c:cat>
          <c:val>
            <c:numRef>
              <c:f>pvt!$C$20:$C$28</c:f>
              <c:numCache>
                <c:formatCode>General</c:formatCode>
                <c:ptCount val="9"/>
                <c:pt idx="0">
                  <c:v>59.43</c:v>
                </c:pt>
                <c:pt idx="1">
                  <c:v>54.85</c:v>
                </c:pt>
                <c:pt idx="2">
                  <c:v>53.66</c:v>
                </c:pt>
                <c:pt idx="3">
                  <c:v>53.93</c:v>
                </c:pt>
                <c:pt idx="5">
                  <c:v>70.709999999999994</c:v>
                </c:pt>
                <c:pt idx="6">
                  <c:v>65.62</c:v>
                </c:pt>
                <c:pt idx="7">
                  <c:v>79.53</c:v>
                </c:pt>
                <c:pt idx="8">
                  <c:v>78.81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7E-41D8-9128-6DA7CD417704}"/>
            </c:ext>
          </c:extLst>
        </c:ser>
        <c:ser>
          <c:idx val="3"/>
          <c:order val="1"/>
          <c:tx>
            <c:strRef>
              <c:f>pvt!$D$19</c:f>
              <c:strCache>
                <c:ptCount val="1"/>
                <c:pt idx="0">
                  <c:v>Grade 11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pvt!$A$20:$B$28</c:f>
              <c:multiLvlStrCache>
                <c:ptCount val="9"/>
                <c:lvl>
                  <c:pt idx="0">
                    <c:v>2021-22</c:v>
                  </c:pt>
                  <c:pt idx="1">
                    <c:v>2022-23</c:v>
                  </c:pt>
                  <c:pt idx="2">
                    <c:v>2023-24</c:v>
                  </c:pt>
                  <c:pt idx="3">
                    <c:v>2024-25</c:v>
                  </c:pt>
                  <c:pt idx="5">
                    <c:v>2021-22</c:v>
                  </c:pt>
                  <c:pt idx="6">
                    <c:v>2022-23</c:v>
                  </c:pt>
                  <c:pt idx="7">
                    <c:v>2023-24</c:v>
                  </c:pt>
                  <c:pt idx="8">
                    <c:v>2024-25</c:v>
                  </c:pt>
                </c:lvl>
                <c:lvl>
                  <c:pt idx="0">
                    <c:v>ELA</c:v>
                  </c:pt>
                  <c:pt idx="5">
                    <c:v>Math</c:v>
                  </c:pt>
                </c:lvl>
              </c:multiLvlStrCache>
            </c:multiLvlStrRef>
          </c:cat>
          <c:val>
            <c:numRef>
              <c:f>pvt!$D$20:$D$28</c:f>
              <c:numCache>
                <c:formatCode>General</c:formatCode>
                <c:ptCount val="9"/>
                <c:pt idx="0">
                  <c:v>87.9</c:v>
                </c:pt>
                <c:pt idx="1">
                  <c:v>88.28</c:v>
                </c:pt>
                <c:pt idx="2">
                  <c:v>89.69</c:v>
                </c:pt>
                <c:pt idx="3">
                  <c:v>90.06</c:v>
                </c:pt>
                <c:pt idx="5">
                  <c:v>92.1</c:v>
                </c:pt>
                <c:pt idx="6">
                  <c:v>93.49</c:v>
                </c:pt>
                <c:pt idx="7">
                  <c:v>95.02</c:v>
                </c:pt>
                <c:pt idx="8">
                  <c:v>93.39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7E-41D8-9128-6DA7CD41770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69826112"/>
        <c:axId val="1048870032"/>
      </c:lineChart>
      <c:catAx>
        <c:axId val="56982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870032"/>
        <c:crosses val="autoZero"/>
        <c:auto val="1"/>
        <c:lblAlgn val="ctr"/>
        <c:lblOffset val="100"/>
        <c:noMultiLvlLbl val="0"/>
      </c:catAx>
      <c:valAx>
        <c:axId val="1048870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82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436B1-1BF5-477C-A083-EB6069D6E97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7A512-926A-4487-BB9D-69E1D7716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9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Educator Evaluations were repealed from state law. Districts may now conduct those however based solely on local policy and do not report them to the state.</a:t>
            </a:r>
          </a:p>
          <a:p>
            <a:r>
              <a:rPr lang="en-US" dirty="0"/>
              <a:t>School grades were also repealed from state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A512-926A-4487-BB9D-69E1D7716A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42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A512-926A-4487-BB9D-69E1D7716A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98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By 2026-27 WIDA NGA AGPs would be applied to grades 8-12. However, we are choosing to limit to data post covid (i.e., 2021-22 and forward). Meaning as of 2024-25, the most we can project out is 3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A512-926A-4487-BB9D-69E1D7716A6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4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8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1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6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5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1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95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8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6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58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63317"/>
            <a:ext cx="10515600" cy="4013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42843-D67F-4AFD-A86B-F97363D4E91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DB74C-D167-4A58-926D-A51009A52B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209893"/>
            <a:ext cx="10083282" cy="658037"/>
          </a:xfrm>
          <a:prstGeom prst="rect">
            <a:avLst/>
          </a:prstGeom>
          <a:solidFill>
            <a:srgbClr val="006D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26" name="Picture 2" descr="Michigan Department of Education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220" y="6176963"/>
            <a:ext cx="1698170" cy="65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-1"/>
            <a:ext cx="12192000" cy="658368"/>
          </a:xfrm>
          <a:prstGeom prst="rect">
            <a:avLst/>
          </a:prstGeom>
          <a:solidFill>
            <a:srgbClr val="006D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731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A84B07-B06F-4945-B022-EE14A93B1B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on Michigan </a:t>
            </a:r>
            <a:br>
              <a:rPr lang="en-US" dirty="0"/>
            </a:br>
            <a:r>
              <a:rPr lang="en-US" dirty="0"/>
              <a:t>Student Growth Metrics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2CD1C9F-B8F4-49B5-894E-95EC621E43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4/24/2026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30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9BAD-8BFD-7852-D78E-A435A1C5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Problem &amp;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4EFE-AAC1-6434-AA83-911F9E2A6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Michigan’s current growth model results in far more aggressive growth targets for high school students</a:t>
            </a:r>
          </a:p>
          <a:p>
            <a:endParaRPr lang="en-US" sz="3600" dirty="0"/>
          </a:p>
          <a:p>
            <a:r>
              <a:rPr lang="en-US" sz="3600" dirty="0"/>
              <a:t>Introduce possible modifications to make high school growth targets more equitable</a:t>
            </a:r>
          </a:p>
          <a:p>
            <a:endParaRPr lang="en-US" sz="3600" dirty="0"/>
          </a:p>
          <a:p>
            <a:r>
              <a:rPr lang="en-US" sz="3600" dirty="0"/>
              <a:t>Discuss current vs possible modifications</a:t>
            </a:r>
          </a:p>
        </p:txBody>
      </p:sp>
    </p:spTree>
    <p:extLst>
      <p:ext uri="{BB962C8B-B14F-4D97-AF65-F5344CB8AC3E}">
        <p14:creationId xmlns:p14="http://schemas.microsoft.com/office/powerpoint/2010/main" val="396868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7D73E0C-3FCD-55D6-F4DD-C5B5AC6E13E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" y="674914"/>
          <a:ext cx="12192000" cy="5502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529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, waterfall chart&#10;&#10;AI-generated content may be incorrect.">
            <a:extLst>
              <a:ext uri="{FF2B5EF4-FFF2-40B4-BE49-F238E27FC236}">
                <a16:creationId xmlns:a16="http://schemas.microsoft.com/office/drawing/2014/main" id="{294B3818-2438-2140-EC27-08027E960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912036"/>
            <a:ext cx="12191999" cy="50339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Box 1">
            <a:extLst>
              <a:ext uri="{FF2B5EF4-FFF2-40B4-BE49-F238E27FC236}">
                <a16:creationId xmlns:a16="http://schemas.microsoft.com/office/drawing/2014/main" id="{A9AD9B42-88C6-61A1-E343-EDBADE3E8032}"/>
              </a:ext>
            </a:extLst>
          </p:cNvPr>
          <p:cNvSpPr txBox="1"/>
          <p:nvPr/>
        </p:nvSpPr>
        <p:spPr>
          <a:xfrm>
            <a:off x="5307601" y="3744956"/>
            <a:ext cx="6884397" cy="1360443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Copies of 1-year growth targets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5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E86CB0-5888-8753-DAD0-E0B86119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Refresher on Michigan’s Current Growth Model &amp; Uses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3C5DD-317E-1C40-0491-2FD672AB0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6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8DA1-8E81-4C2C-9C7F-6D96A5E9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8367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State-Level Uses of Student Growth in Michigan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2D39-766C-4907-8DE3-DBC396303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Public reporting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Parent Dashboard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Student Growth Report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Annual Education Report</a:t>
            </a:r>
          </a:p>
          <a:p>
            <a:pPr lvl="1"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sz="3600" dirty="0"/>
              <a:t>High stakes school accountability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School Index</a:t>
            </a:r>
          </a:p>
        </p:txBody>
      </p:sp>
    </p:spTree>
    <p:extLst>
      <p:ext uri="{BB962C8B-B14F-4D97-AF65-F5344CB8AC3E}">
        <p14:creationId xmlns:p14="http://schemas.microsoft.com/office/powerpoint/2010/main" val="108242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8DA1-8E81-4C2C-9C7F-6D96A5E9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Student Growth in Michigan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2D39-766C-4907-8DE3-DBC39630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930"/>
            <a:ext cx="10515600" cy="419303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Growth Rationale</a:t>
            </a:r>
          </a:p>
          <a:p>
            <a:pPr lvl="1"/>
            <a:r>
              <a:rPr lang="en-US" dirty="0"/>
              <a:t>Support continuous improvement</a:t>
            </a:r>
          </a:p>
          <a:p>
            <a:pPr lvl="1"/>
            <a:r>
              <a:rPr lang="en-US" dirty="0"/>
              <a:t>Required by federal law (Every Student Succeeds Act; ESSA)</a:t>
            </a:r>
          </a:p>
          <a:p>
            <a:pPr lvl="1"/>
            <a:endParaRPr lang="en-US" sz="500" b="1" dirty="0"/>
          </a:p>
          <a:p>
            <a:r>
              <a:rPr lang="en-US" b="1" dirty="0"/>
              <a:t>Growth Metrics</a:t>
            </a:r>
          </a:p>
          <a:p>
            <a:pPr lvl="1"/>
            <a:r>
              <a:rPr lang="en-US" dirty="0"/>
              <a:t>Growth Scores (Student Growth Percentile; SGP)</a:t>
            </a:r>
          </a:p>
          <a:p>
            <a:pPr lvl="1"/>
            <a:r>
              <a:rPr lang="en-US" dirty="0"/>
              <a:t>Growth Target (Adequate Growth Percentile; AGP)</a:t>
            </a:r>
          </a:p>
          <a:p>
            <a:endParaRPr lang="en-US" sz="500" b="1" dirty="0"/>
          </a:p>
          <a:p>
            <a:r>
              <a:rPr lang="en-US" b="1" dirty="0"/>
              <a:t>Growth Areas</a:t>
            </a:r>
          </a:p>
          <a:p>
            <a:pPr lvl="1"/>
            <a:r>
              <a:rPr lang="en-US" dirty="0"/>
              <a:t>Content areas –Grades 4-8 &amp; 11 </a:t>
            </a:r>
          </a:p>
          <a:p>
            <a:pPr lvl="2"/>
            <a:r>
              <a:rPr lang="en-US" dirty="0"/>
              <a:t>(Grades 9 &amp; 10 are given to schools in student datafile but not included in accountability)</a:t>
            </a:r>
          </a:p>
          <a:p>
            <a:pPr lvl="1"/>
            <a:r>
              <a:rPr lang="en-US" dirty="0"/>
              <a:t>Englisher language proficiency: Grades 1-12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847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C10A-17F4-4F16-A52F-3D92498C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Metric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DDB94-93CE-4BA9-A326-883BBE480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Growth Score </a:t>
            </a:r>
            <a:r>
              <a:rPr lang="en-US" dirty="0"/>
              <a:t>(Student Growth Percentile; SGP)</a:t>
            </a:r>
          </a:p>
          <a:p>
            <a:pPr lvl="1"/>
            <a:r>
              <a:rPr lang="en-US" dirty="0"/>
              <a:t>The percent of students with similar score histories having lower growth than this student</a:t>
            </a:r>
          </a:p>
          <a:p>
            <a:endParaRPr lang="en-US" b="1" dirty="0"/>
          </a:p>
          <a:p>
            <a:r>
              <a:rPr lang="en-US" b="1" dirty="0"/>
              <a:t>Growth Target </a:t>
            </a:r>
            <a:r>
              <a:rPr lang="en-US" dirty="0"/>
              <a:t>(Adequate Growth Percentile; AGP)</a:t>
            </a:r>
          </a:p>
          <a:p>
            <a:pPr lvl="1"/>
            <a:r>
              <a:rPr lang="en-US" dirty="0"/>
              <a:t>The growth score (SGP) which a student needs to consistently be at or above to reach proficiency within a set timeframe</a:t>
            </a:r>
          </a:p>
          <a:p>
            <a:endParaRPr lang="en-US" b="1" dirty="0"/>
          </a:p>
          <a:p>
            <a:r>
              <a:rPr lang="en-US" b="1" dirty="0"/>
              <a:t>Growth Target Timeframe</a:t>
            </a:r>
          </a:p>
          <a:p>
            <a:pPr lvl="1"/>
            <a:r>
              <a:rPr lang="en-US" dirty="0"/>
              <a:t>The number of years in which a student is expected to reach proficiency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4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95CCD3-B002-EE2B-D464-324E2109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6"/>
            <a:ext cx="10515600" cy="757693"/>
          </a:xfrm>
        </p:spPr>
        <p:txBody>
          <a:bodyPr/>
          <a:lstStyle/>
          <a:p>
            <a:r>
              <a:rPr lang="en-US" dirty="0"/>
              <a:t>Current Growth Target Methods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2364A-2C22-7C97-4D00-FBC5E2583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26029"/>
            <a:ext cx="5157787" cy="1079046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800" dirty="0"/>
              <a:t>Quantile regression</a:t>
            </a:r>
            <a:br>
              <a:rPr lang="en-US" sz="2800" dirty="0"/>
            </a:br>
            <a:r>
              <a:rPr lang="en-US" sz="2800" dirty="0"/>
              <a:t>(R SGP Package)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38B61-7FDD-458B-7A08-9CE1E3F1B7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student previous score history</a:t>
            </a:r>
          </a:p>
          <a:p>
            <a:r>
              <a:rPr lang="en-US" sz="2400" dirty="0"/>
              <a:t>Input previous scores into R SGP Package</a:t>
            </a:r>
          </a:p>
          <a:p>
            <a:r>
              <a:rPr lang="en-US" sz="2400" dirty="0"/>
              <a:t>Validate results</a:t>
            </a:r>
          </a:p>
          <a:p>
            <a:r>
              <a:rPr lang="en-US" sz="2400" dirty="0"/>
              <a:t>Apply the model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4124A1-CE4B-20CF-8FE6-B0FAE9E54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26029"/>
            <a:ext cx="5183188" cy="1079046"/>
          </a:xfrm>
        </p:spPr>
        <p:txBody>
          <a:bodyPr>
            <a:normAutofit/>
          </a:bodyPr>
          <a:lstStyle/>
          <a:p>
            <a:r>
              <a:rPr lang="en-US" sz="3200" dirty="0"/>
              <a:t>Logistic Regression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D4B381-17E4-E005-F1FE-A6D30CD833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Build the model</a:t>
            </a:r>
          </a:p>
          <a:p>
            <a:pPr lvl="1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historical longitudinal training dataset</a:t>
            </a:r>
          </a:p>
          <a:p>
            <a:pPr lvl="1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Set norm group (assessment, content area, &amp; prior1 PL)</a:t>
            </a:r>
          </a:p>
          <a:p>
            <a:pPr lvl="1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Run logistic regression</a:t>
            </a:r>
          </a:p>
          <a:p>
            <a:pPr lvl="1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Set growth target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cutpoint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at 50% probability of proficiency</a:t>
            </a:r>
          </a:p>
          <a:p>
            <a:r>
              <a:rPr lang="en-US" sz="2400" dirty="0"/>
              <a:t>Validate the results</a:t>
            </a:r>
          </a:p>
          <a:p>
            <a:r>
              <a:rPr lang="en-US" sz="2400" dirty="0"/>
              <a:t>Apply the model</a:t>
            </a:r>
          </a:p>
        </p:txBody>
      </p:sp>
    </p:spTree>
    <p:extLst>
      <p:ext uri="{BB962C8B-B14F-4D97-AF65-F5344CB8AC3E}">
        <p14:creationId xmlns:p14="http://schemas.microsoft.com/office/powerpoint/2010/main" val="1784328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AEF3-8D32-44DF-91AE-717FDBA6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Growth Target Methods by Assessment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36CB58-4131-4AC9-960C-EBE0385FC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594649"/>
              </p:ext>
            </p:extLst>
          </p:nvPr>
        </p:nvGraphicFramePr>
        <p:xfrm>
          <a:off x="838200" y="2156091"/>
          <a:ext cx="10058400" cy="3047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8044">
                  <a:extLst>
                    <a:ext uri="{9D8B030D-6E8A-4147-A177-3AD203B41FA5}">
                      <a16:colId xmlns:a16="http://schemas.microsoft.com/office/drawing/2014/main" val="2217296880"/>
                    </a:ext>
                  </a:extLst>
                </a:gridCol>
                <a:gridCol w="6380356">
                  <a:extLst>
                    <a:ext uri="{9D8B030D-6E8A-4147-A177-3AD203B41FA5}">
                      <a16:colId xmlns:a16="http://schemas.microsoft.com/office/drawing/2014/main" val="1900278509"/>
                    </a:ext>
                  </a:extLst>
                </a:gridCol>
              </a:tblGrid>
              <a:tr h="785283">
                <a:tc>
                  <a:txBody>
                    <a:bodyPr/>
                    <a:lstStyle/>
                    <a:p>
                      <a:r>
                        <a:rPr lang="en-US" sz="28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Assessment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433089"/>
                  </a:ext>
                </a:extLst>
              </a:tr>
              <a:tr h="1130998">
                <a:tc>
                  <a:txBody>
                    <a:bodyPr/>
                    <a:lstStyle/>
                    <a:p>
                      <a:pPr lvl="0" algn="l"/>
                      <a:r>
                        <a:rPr lang="en-US" sz="2800" dirty="0"/>
                        <a:t>Quantile regression </a:t>
                      </a:r>
                    </a:p>
                    <a:p>
                      <a:pPr lvl="0" algn="l"/>
                      <a:r>
                        <a:rPr lang="en-US" sz="2800" dirty="0"/>
                        <a:t>(R SGP Package)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M-STEP,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PSAT 8, PSAT 9, PSAT 10, &amp; SAT</a:t>
                      </a:r>
                      <a:endParaRPr lang="en-US" sz="2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WIDA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189757"/>
                  </a:ext>
                </a:extLst>
              </a:tr>
              <a:tr h="1130998">
                <a:tc>
                  <a:txBody>
                    <a:bodyPr/>
                    <a:lstStyle/>
                    <a:p>
                      <a:pPr lvl="0" algn="l"/>
                      <a:r>
                        <a:rPr lang="en-US" sz="2800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MI-Access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584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044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A43062-3120-55BA-FDED-8CBEAFB61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DC075B-2319-B71E-C6DB-75581A5A7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659732"/>
              </p:ext>
            </p:extLst>
          </p:nvPr>
        </p:nvGraphicFramePr>
        <p:xfrm>
          <a:off x="199465" y="2316860"/>
          <a:ext cx="11793070" cy="3004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9570">
                  <a:extLst>
                    <a:ext uri="{9D8B030D-6E8A-4147-A177-3AD203B41FA5}">
                      <a16:colId xmlns:a16="http://schemas.microsoft.com/office/drawing/2014/main" val="2217296880"/>
                    </a:ext>
                  </a:extLst>
                </a:gridCol>
                <a:gridCol w="8293500">
                  <a:extLst>
                    <a:ext uri="{9D8B030D-6E8A-4147-A177-3AD203B41FA5}">
                      <a16:colId xmlns:a16="http://schemas.microsoft.com/office/drawing/2014/main" val="2549271185"/>
                    </a:ext>
                  </a:extLst>
                </a:gridCol>
              </a:tblGrid>
              <a:tr h="536034">
                <a:tc>
                  <a:txBody>
                    <a:bodyPr/>
                    <a:lstStyle/>
                    <a:p>
                      <a:r>
                        <a:rPr lang="en-US" sz="2800" dirty="0"/>
                        <a:t>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Method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433089"/>
                  </a:ext>
                </a:extLst>
              </a:tr>
              <a:tr h="1234086">
                <a:tc>
                  <a:txBody>
                    <a:bodyPr/>
                    <a:lstStyle/>
                    <a:p>
                      <a:r>
                        <a:rPr lang="en-US" sz="2800" dirty="0"/>
                        <a:t>Quantile regression</a:t>
                      </a:r>
                    </a:p>
                    <a:p>
                      <a:r>
                        <a:rPr lang="en-US" sz="2800" dirty="0"/>
                        <a:t>(R SGP Package)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/>
                        <a:t>Individual</a:t>
                      </a:r>
                      <a:r>
                        <a:rPr lang="en-US" sz="2400" b="1" u="none" dirty="0"/>
                        <a:t> student score history </a:t>
                      </a:r>
                      <a:br>
                        <a:rPr lang="en-US" sz="2400" b="1" u="none" dirty="0"/>
                      </a:br>
                      <a:r>
                        <a:rPr lang="en-US" sz="2400" dirty="0"/>
                        <a:t>(student, assessment, content area, grade, prior1SS, &amp; prior2SS)</a:t>
                      </a:r>
                    </a:p>
                    <a:p>
                      <a:endParaRPr lang="en-US" sz="2400" b="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189757"/>
                  </a:ext>
                </a:extLst>
              </a:tr>
              <a:tr h="1234086">
                <a:tc>
                  <a:txBody>
                    <a:bodyPr/>
                    <a:lstStyle/>
                    <a:p>
                      <a:r>
                        <a:rPr lang="en-US" sz="2800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u="sng" dirty="0"/>
                        <a:t>Group</a:t>
                      </a:r>
                      <a:r>
                        <a:rPr lang="en-US" sz="2400" b="1" u="none" dirty="0"/>
                        <a:t> score history – handful of large buckets</a:t>
                      </a:r>
                    </a:p>
                    <a:p>
                      <a:r>
                        <a:rPr lang="en-US" sz="2400" dirty="0"/>
                        <a:t>(assessment, content area, &amp; prior1 performance level)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58413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8B8DD1B-7BFF-A2DB-5DCE-F3931A0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Growth Target Method Precision</a:t>
            </a:r>
          </a:p>
        </p:txBody>
      </p:sp>
    </p:spTree>
    <p:extLst>
      <p:ext uri="{BB962C8B-B14F-4D97-AF65-F5344CB8AC3E}">
        <p14:creationId xmlns:p14="http://schemas.microsoft.com/office/powerpoint/2010/main" val="3086019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0B9A-4FF1-41B2-87E0-0324A109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Target Timeframes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EB3F116-E24C-40C4-8DAB-70A0E3B31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8029503"/>
              </p:ext>
            </p:extLst>
          </p:nvPr>
        </p:nvGraphicFramePr>
        <p:xfrm>
          <a:off x="838200" y="2649827"/>
          <a:ext cx="10515600" cy="2284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274584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067227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05181442"/>
                    </a:ext>
                  </a:extLst>
                </a:gridCol>
              </a:tblGrid>
              <a:tr h="534832">
                <a:tc>
                  <a:txBody>
                    <a:bodyPr/>
                    <a:lstStyle/>
                    <a:p>
                      <a:r>
                        <a:rPr lang="en-US" sz="2800" dirty="0"/>
                        <a:t>In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Content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703816"/>
                  </a:ext>
                </a:extLst>
              </a:tr>
              <a:tr h="1749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Michigan growth target timeframes are based on empirical review of past students’ progressions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Timeframes of 1-3 years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3-year max based on:</a:t>
                      </a:r>
                    </a:p>
                    <a:p>
                      <a:pPr marL="631825" lvl="1" indent="-174625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Reliability concerns</a:t>
                      </a:r>
                    </a:p>
                    <a:p>
                      <a:pPr marL="631825" lvl="1" indent="-174625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MI Legislature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Timeframes of 1-5 years</a:t>
                      </a:r>
                    </a:p>
                    <a:p>
                      <a:pPr marL="174625" marR="0" lvl="0" indent="-1746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5-year max based on:</a:t>
                      </a:r>
                    </a:p>
                    <a:p>
                      <a:pPr marL="631825" marR="0" lvl="1" indent="-1746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Research (5-7 years) </a:t>
                      </a:r>
                    </a:p>
                    <a:p>
                      <a:pPr marL="631825" marR="0" lvl="1" indent="-1746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Federal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702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940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36AD-BAAD-D81C-F191-617F7699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D1631-829B-4119-4EDB-96E118A0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DRC Explorations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7F10A-6A18-7048-1426-BC7B62D70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89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E004-B6A4-AF7C-F7C0-56732C2F9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9AA7D-BA04-E192-C071-2E3F3E398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Goal was to develop a model that could be applied to Grade 12 given a prior of grade 11</a:t>
            </a:r>
          </a:p>
          <a:p>
            <a:endParaRPr lang="en-US" sz="1400" dirty="0"/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Examined 3-year sequence from grades 9 to 11 for both Math and ELA</a:t>
            </a:r>
          </a:p>
          <a:p>
            <a:pPr lvl="1"/>
            <a:r>
              <a:rPr lang="en-US" dirty="0"/>
              <a:t>Restricted to using final SGPs; needs extended to scale scores.</a:t>
            </a:r>
          </a:p>
          <a:p>
            <a:endParaRPr lang="en-US" sz="1400" dirty="0"/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Predictors:  SGP 2024 and SGP 2025</a:t>
            </a:r>
          </a:p>
          <a:p>
            <a:pPr lvl="1"/>
            <a:r>
              <a:rPr lang="en-US" dirty="0"/>
              <a:t>Outcome:  SGP 2025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87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1589-47AD-BB65-01F5-CD09F61D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2F141-9F01-6E3C-ACAC-E3317AFC7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Variety of models and transformations</a:t>
            </a:r>
          </a:p>
          <a:p>
            <a:pPr lvl="1"/>
            <a:r>
              <a:rPr lang="en-US" dirty="0"/>
              <a:t>Linear</a:t>
            </a:r>
          </a:p>
          <a:p>
            <a:pPr lvl="1"/>
            <a:r>
              <a:rPr lang="en-US" dirty="0"/>
              <a:t>Polynomial </a:t>
            </a:r>
          </a:p>
          <a:p>
            <a:pPr lvl="1"/>
            <a:r>
              <a:rPr lang="en-US" dirty="0"/>
              <a:t>Quantile Regression</a:t>
            </a:r>
          </a:p>
          <a:p>
            <a:pPr lvl="1"/>
            <a:r>
              <a:rPr lang="en-US" dirty="0"/>
              <a:t>Including main (SGPs) and interaction effects </a:t>
            </a:r>
          </a:p>
          <a:p>
            <a:pPr marL="457200" lvl="1" indent="0">
              <a:buNone/>
            </a:pPr>
            <a:r>
              <a:rPr lang="en-US" dirty="0"/>
              <a:t>  </a:t>
            </a:r>
          </a:p>
          <a:p>
            <a:r>
              <a:rPr lang="en-US" dirty="0"/>
              <a:t>None of the model fit was good. </a:t>
            </a:r>
          </a:p>
        </p:txBody>
      </p:sp>
    </p:spTree>
    <p:extLst>
      <p:ext uri="{BB962C8B-B14F-4D97-AF65-F5344CB8AC3E}">
        <p14:creationId xmlns:p14="http://schemas.microsoft.com/office/powerpoint/2010/main" val="124137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CCEE-869E-35A6-FD31-757DC7F4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367"/>
            <a:ext cx="10515600" cy="824745"/>
          </a:xfrm>
        </p:spPr>
        <p:txBody>
          <a:bodyPr/>
          <a:lstStyle/>
          <a:p>
            <a:r>
              <a:rPr lang="en-US" dirty="0"/>
              <a:t>Next Steps/Considerations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9999-BEC7-3640-4F67-EB6F80E1C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2683"/>
            <a:ext cx="10515600" cy="4526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None of this is great and we are looking for recommendations </a:t>
            </a:r>
          </a:p>
          <a:p>
            <a:endParaRPr lang="en-US" sz="1500" dirty="0"/>
          </a:p>
          <a:p>
            <a:r>
              <a:rPr lang="en-US" dirty="0"/>
              <a:t>Conditioning on Performance Level</a:t>
            </a:r>
          </a:p>
          <a:p>
            <a:pPr lvl="1"/>
            <a:r>
              <a:rPr lang="en-US" dirty="0"/>
              <a:t>Started this work, not too promising</a:t>
            </a:r>
          </a:p>
          <a:p>
            <a:pPr lvl="1"/>
            <a:r>
              <a:rPr lang="en-US" dirty="0"/>
              <a:t>Piece wising modeling</a:t>
            </a:r>
          </a:p>
          <a:p>
            <a:endParaRPr lang="en-US" sz="1400" dirty="0"/>
          </a:p>
          <a:p>
            <a:r>
              <a:rPr lang="en-US" dirty="0"/>
              <a:t>Consider between scale scores </a:t>
            </a:r>
          </a:p>
          <a:p>
            <a:pPr lvl="1"/>
            <a:r>
              <a:rPr lang="en-US" dirty="0"/>
              <a:t>Can we predict a pseudo grade 12 score?</a:t>
            </a:r>
          </a:p>
          <a:p>
            <a:pPr lvl="1"/>
            <a:r>
              <a:rPr lang="en-US" dirty="0"/>
              <a:t>Run SGPs?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dirty="0"/>
              <a:t>Thoughts?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87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46C2C-60E2-6759-9575-4FD1EDFD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28C16-747B-D2AE-090D-1171DDDB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MDE Nearest Grade Average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972A8-2438-E44C-45F2-B0E333495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15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994B34-6ECC-2155-1978-6C7587F8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Dusting Off Nearest Grade Average Method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71FE4-59D2-C7C1-B70E-52379FB4FD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Build the model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previous score history for nearest grade</a:t>
            </a:r>
          </a:p>
          <a:p>
            <a:pPr lvl="1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ntile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(50) the prior1 scores of nearest grade 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Set norm group (assessment, content area, &amp; prior1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ntile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[50])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Calculate the average growth target (AGP) for each norm group</a:t>
            </a:r>
          </a:p>
          <a:p>
            <a:r>
              <a:rPr lang="en-US" dirty="0"/>
              <a:t>Validate the results</a:t>
            </a:r>
          </a:p>
          <a:p>
            <a:r>
              <a:rPr lang="en-US" dirty="0"/>
              <a:t>Apply the model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6E604F-39FD-4FAC-A912-67EDA3EC1B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Allows all high school grades to project out up to 3 years</a:t>
            </a:r>
            <a:br>
              <a:rPr lang="en-US" dirty="0"/>
            </a:br>
            <a:r>
              <a:rPr lang="en-US" dirty="0"/>
              <a:t>(same as elementary/middle)</a:t>
            </a:r>
          </a:p>
          <a:p>
            <a:endParaRPr lang="en-US" dirty="0"/>
          </a:p>
          <a:p>
            <a:r>
              <a:rPr lang="en-US" dirty="0"/>
              <a:t>Used in 2018-19 for test transition to PSAT 8 and SAT</a:t>
            </a:r>
          </a:p>
          <a:p>
            <a:endParaRPr lang="en-US" dirty="0"/>
          </a:p>
          <a:p>
            <a:r>
              <a:rPr lang="en-US" dirty="0"/>
              <a:t>Slightly less precise than R SGP package but more precise than Logistic Regression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01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F1C2-EA40-E910-9A9E-5F4E7171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AC4DF0-7D4E-5998-C1F4-D334677E2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334119"/>
              </p:ext>
            </p:extLst>
          </p:nvPr>
        </p:nvGraphicFramePr>
        <p:xfrm>
          <a:off x="126274" y="1786435"/>
          <a:ext cx="11939451" cy="4238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008">
                  <a:extLst>
                    <a:ext uri="{9D8B030D-6E8A-4147-A177-3AD203B41FA5}">
                      <a16:colId xmlns:a16="http://schemas.microsoft.com/office/drawing/2014/main" val="2217296880"/>
                    </a:ext>
                  </a:extLst>
                </a:gridCol>
                <a:gridCol w="8396443">
                  <a:extLst>
                    <a:ext uri="{9D8B030D-6E8A-4147-A177-3AD203B41FA5}">
                      <a16:colId xmlns:a16="http://schemas.microsoft.com/office/drawing/2014/main" val="2549271185"/>
                    </a:ext>
                  </a:extLst>
                </a:gridCol>
              </a:tblGrid>
              <a:tr h="536034">
                <a:tc>
                  <a:txBody>
                    <a:bodyPr/>
                    <a:lstStyle/>
                    <a:p>
                      <a:r>
                        <a:rPr lang="en-US" sz="2800" dirty="0"/>
                        <a:t>Method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Method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433089"/>
                  </a:ext>
                </a:extLst>
              </a:tr>
              <a:tr h="1234086">
                <a:tc>
                  <a:txBody>
                    <a:bodyPr/>
                    <a:lstStyle/>
                    <a:p>
                      <a:r>
                        <a:rPr lang="en-US" sz="2800" dirty="0"/>
                        <a:t>Quantile regression</a:t>
                      </a:r>
                    </a:p>
                    <a:p>
                      <a:r>
                        <a:rPr lang="en-US" sz="2800" dirty="0"/>
                        <a:t>(R SGP Package)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sng" dirty="0"/>
                        <a:t>Individual</a:t>
                      </a:r>
                      <a:r>
                        <a:rPr lang="en-US" sz="2400" b="1" u="none" dirty="0"/>
                        <a:t> student score history </a:t>
                      </a:r>
                      <a:br>
                        <a:rPr lang="en-US" sz="2400" b="1" u="none" dirty="0"/>
                      </a:br>
                      <a:r>
                        <a:rPr lang="en-US" sz="2400" dirty="0"/>
                        <a:t>(student, assessment, content area, grade, prior1SS, &amp; prior2SS)</a:t>
                      </a:r>
                    </a:p>
                    <a:p>
                      <a:endParaRPr lang="en-US" sz="2400" b="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189757"/>
                  </a:ext>
                </a:extLst>
              </a:tr>
              <a:tr h="1234086">
                <a:tc>
                  <a:txBody>
                    <a:bodyPr/>
                    <a:lstStyle/>
                    <a:p>
                      <a:r>
                        <a:rPr lang="en-US" sz="2800" dirty="0"/>
                        <a:t>Nearest Grade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u="sng" dirty="0"/>
                        <a:t>Group</a:t>
                      </a:r>
                      <a:r>
                        <a:rPr lang="en-US" sz="2400" b="1" u="none" dirty="0"/>
                        <a:t> score history – many small buckets</a:t>
                      </a:r>
                    </a:p>
                    <a:p>
                      <a:r>
                        <a:rPr lang="en-US" sz="2400" dirty="0"/>
                        <a:t>(assessment, content area, grade, &amp; prior1 achievement </a:t>
                      </a:r>
                      <a:r>
                        <a:rPr lang="en-US" sz="2400" dirty="0" err="1"/>
                        <a:t>ntile</a:t>
                      </a:r>
                      <a:r>
                        <a:rPr lang="en-US" sz="2400" dirty="0"/>
                        <a:t>[50])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073709"/>
                  </a:ext>
                </a:extLst>
              </a:tr>
              <a:tr h="1234086">
                <a:tc>
                  <a:txBody>
                    <a:bodyPr/>
                    <a:lstStyle/>
                    <a:p>
                      <a:r>
                        <a:rPr lang="en-US" sz="2800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u="sng" dirty="0"/>
                        <a:t>Group</a:t>
                      </a:r>
                      <a:r>
                        <a:rPr lang="en-US" sz="2400" b="1" u="none" dirty="0"/>
                        <a:t> score history – handful of large buckets</a:t>
                      </a:r>
                    </a:p>
                    <a:p>
                      <a:r>
                        <a:rPr lang="en-US" sz="2400" dirty="0"/>
                        <a:t>(assessment, content area, &amp; prior1 performance level)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58413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F2078E-68F6-BBDB-0500-52441CE8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Precision Revisited</a:t>
            </a:r>
          </a:p>
        </p:txBody>
      </p:sp>
    </p:spTree>
    <p:extLst>
      <p:ext uri="{BB962C8B-B14F-4D97-AF65-F5344CB8AC3E}">
        <p14:creationId xmlns:p14="http://schemas.microsoft.com/office/powerpoint/2010/main" val="2949130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E428-2BD2-43F2-90AF-88EC2D5F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7875"/>
            <a:ext cx="10515600" cy="1325563"/>
          </a:xfrm>
        </p:spPr>
        <p:txBody>
          <a:bodyPr/>
          <a:lstStyle/>
          <a:p>
            <a:r>
              <a:rPr lang="en-US" dirty="0"/>
              <a:t>Nearest Grade Average Changes </a:t>
            </a:r>
            <a:br>
              <a:rPr lang="en-US" dirty="0"/>
            </a:br>
            <a:r>
              <a:rPr lang="en-US" dirty="0"/>
              <a:t>Alignment Checks &amp; Impact Evaluation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DC39-27BB-3F84-D1EB-A93F787EC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13913"/>
            <a:ext cx="5157787" cy="823912"/>
          </a:xfrm>
        </p:spPr>
        <p:txBody>
          <a:bodyPr>
            <a:normAutofit/>
          </a:bodyPr>
          <a:lstStyle/>
          <a:p>
            <a:r>
              <a:rPr lang="en-US" sz="2800" dirty="0"/>
              <a:t>Alignment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F1B58-C67E-43D8-955B-21DB4829B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37825"/>
            <a:ext cx="5157787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Middle school grades</a:t>
            </a:r>
          </a:p>
          <a:p>
            <a:pPr lvl="1"/>
            <a:r>
              <a:rPr lang="en-US" dirty="0"/>
              <a:t>Content Areas – grades 7 &amp; 8</a:t>
            </a:r>
          </a:p>
          <a:p>
            <a:pPr lvl="1"/>
            <a:r>
              <a:rPr lang="en-US" dirty="0"/>
              <a:t>WIDA Access – Grades 6, 7, 8</a:t>
            </a:r>
          </a:p>
          <a:p>
            <a:endParaRPr lang="en-US" dirty="0"/>
          </a:p>
          <a:p>
            <a:r>
              <a:rPr lang="en-US" dirty="0"/>
              <a:t>Compare R package &amp; NGA AGPs</a:t>
            </a:r>
          </a:p>
          <a:p>
            <a:pPr lvl="1"/>
            <a:r>
              <a:rPr lang="en-US" dirty="0"/>
              <a:t>Impact – Students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89E38-2D9C-7BBA-FD93-115E31211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13913"/>
            <a:ext cx="5183188" cy="823912"/>
          </a:xfrm>
        </p:spPr>
        <p:txBody>
          <a:bodyPr>
            <a:normAutofit/>
          </a:bodyPr>
          <a:lstStyle/>
          <a:p>
            <a:r>
              <a:rPr lang="en-US" sz="2800" dirty="0"/>
              <a:t>Impact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4170AB-1102-34AA-DD27-10CB71493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37825"/>
            <a:ext cx="5183188" cy="3684588"/>
          </a:xfrm>
        </p:spPr>
        <p:txBody>
          <a:bodyPr>
            <a:normAutofit/>
          </a:bodyPr>
          <a:lstStyle/>
          <a:p>
            <a:r>
              <a:rPr lang="en-US" dirty="0"/>
              <a:t>Upper high school grades</a:t>
            </a:r>
          </a:p>
          <a:p>
            <a:pPr lvl="1"/>
            <a:r>
              <a:rPr lang="en-US" dirty="0"/>
              <a:t>Content Areas – grades 11</a:t>
            </a:r>
          </a:p>
          <a:p>
            <a:pPr lvl="1"/>
            <a:r>
              <a:rPr lang="en-US" dirty="0"/>
              <a:t>WIDA Access – Grades 10, 11, 12*</a:t>
            </a:r>
          </a:p>
          <a:p>
            <a:endParaRPr lang="en-US" dirty="0"/>
          </a:p>
          <a:p>
            <a:r>
              <a:rPr lang="en-US" dirty="0"/>
              <a:t>Compare R package &amp; NGA AGPs</a:t>
            </a:r>
          </a:p>
          <a:p>
            <a:pPr lvl="1"/>
            <a:r>
              <a:rPr lang="en-US" dirty="0"/>
              <a:t>Impact – Students</a:t>
            </a:r>
          </a:p>
          <a:p>
            <a:pPr lvl="1"/>
            <a:r>
              <a:rPr lang="en-US" dirty="0"/>
              <a:t>Impact – Growth Component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44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B41E6-3E65-782D-0E2A-9BEFF43AA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5FEA-CBE4-EEB5-DEB0-6C89BAF1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0" y="658367"/>
            <a:ext cx="4414025" cy="514026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Content Areas Model Alignment Growth Index</a:t>
            </a:r>
            <a:br>
              <a:rPr lang="en-US" dirty="0"/>
            </a:br>
            <a:r>
              <a:rPr lang="en-US" dirty="0"/>
              <a:t>Scatter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F2FCC-EB12-3AF1-7210-9FDAF0F72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432" y="658367"/>
            <a:ext cx="7106323" cy="54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45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B853-EC07-FDC2-B1EA-EE789569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C597-54BB-8680-DBCA-9D5081222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0" y="658367"/>
            <a:ext cx="4414025" cy="514026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Content Area Model Application Growth Index</a:t>
            </a:r>
            <a:br>
              <a:rPr lang="en-US" dirty="0"/>
            </a:br>
            <a:r>
              <a:rPr lang="en-US" dirty="0"/>
              <a:t>Scatter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A3725-E959-E8AD-F7F1-D22B3AEAF5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02701" y="658367"/>
            <a:ext cx="6797509" cy="544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71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3CB8-0A8B-6A1A-0D14-21549AC4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0602-BCF1-6255-192D-A42198BF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0" y="658367"/>
            <a:ext cx="4414025" cy="5140267"/>
          </a:xfrm>
        </p:spPr>
        <p:txBody>
          <a:bodyPr>
            <a:normAutofit/>
          </a:bodyPr>
          <a:lstStyle/>
          <a:p>
            <a:pPr algn="ctr"/>
            <a:r>
              <a:rPr lang="en-US"/>
              <a:t>English Learner Model </a:t>
            </a:r>
            <a:r>
              <a:rPr lang="en-US" dirty="0"/>
              <a:t>Alignment Growth Index</a:t>
            </a:r>
            <a:br>
              <a:rPr lang="en-US" dirty="0"/>
            </a:br>
            <a:r>
              <a:rPr lang="en-US" dirty="0"/>
              <a:t>Scatter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6CC06-6798-2644-84DF-CFDA21B48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845" y="858866"/>
            <a:ext cx="7069365" cy="51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36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928D-A515-65EB-3178-E251A00C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84EF-8D4E-2516-40B7-381E41A4A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0" y="658367"/>
            <a:ext cx="4414025" cy="514026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English Learner Model Application Growth Index</a:t>
            </a:r>
            <a:br>
              <a:rPr lang="en-US" dirty="0"/>
            </a:br>
            <a:r>
              <a:rPr lang="en-US" dirty="0"/>
              <a:t>Scatter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9F7B4-2F55-6EA1-AF21-A7C680BE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929" y="816462"/>
            <a:ext cx="7088281" cy="522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90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CFCE-4C67-C6B1-E2D5-DB481846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6047-71C0-5906-9EC8-C65D66F8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NGA Application </a:t>
            </a:r>
            <a:r>
              <a:rPr lang="en-US" dirty="0"/>
              <a:t>Summary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8ADF0-6A4B-F452-2FA8-CD7475C8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317"/>
            <a:ext cx="11353800" cy="4013646"/>
          </a:xfrm>
        </p:spPr>
        <p:txBody>
          <a:bodyPr/>
          <a:lstStyle/>
          <a:p>
            <a:r>
              <a:rPr lang="en-US" dirty="0"/>
              <a:t>Fairly tight alignment</a:t>
            </a:r>
          </a:p>
          <a:p>
            <a:endParaRPr lang="en-US" dirty="0"/>
          </a:p>
          <a:p>
            <a:r>
              <a:rPr lang="en-US" dirty="0"/>
              <a:t>More reasonable targets for both content areas and English Learners (EL)</a:t>
            </a:r>
          </a:p>
          <a:p>
            <a:endParaRPr lang="en-US" dirty="0"/>
          </a:p>
          <a:p>
            <a:r>
              <a:rPr lang="en-US" dirty="0"/>
              <a:t>Meaningful impacts on aggregate Growth and EL Progress index values</a:t>
            </a:r>
          </a:p>
          <a:p>
            <a:endParaRPr lang="en-US" dirty="0"/>
          </a:p>
          <a:p>
            <a:r>
              <a:rPr lang="en-US" dirty="0"/>
              <a:t>EL impact is expected to increase as we ramp up to 5-years post COVID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65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E7E4EF-46DA-4282-96B6-07C00ADA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31883C-7BF8-4839-B3EC-6E39BB58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63317"/>
            <a:ext cx="11353801" cy="4013646"/>
          </a:xfrm>
        </p:spPr>
        <p:txBody>
          <a:bodyPr>
            <a:normAutofit/>
          </a:bodyPr>
          <a:lstStyle/>
          <a:p>
            <a:r>
              <a:rPr lang="en-US" dirty="0"/>
              <a:t>What concerns do you have with these methods?</a:t>
            </a:r>
          </a:p>
          <a:p>
            <a:endParaRPr lang="en-US" dirty="0"/>
          </a:p>
          <a:p>
            <a:r>
              <a:rPr lang="en-US" dirty="0"/>
              <a:t>Are there ways we could mitigate those concerns for these methods? </a:t>
            </a:r>
          </a:p>
          <a:p>
            <a:endParaRPr lang="en-US" dirty="0"/>
          </a:p>
          <a:p>
            <a:r>
              <a:rPr lang="en-US" dirty="0"/>
              <a:t>Ideas for other methods to extend years projected for high school grades? </a:t>
            </a:r>
            <a:br>
              <a:rPr lang="en-US" dirty="0"/>
            </a:br>
            <a:r>
              <a:rPr lang="en-US" dirty="0"/>
              <a:t>(Balancing complexity and the need for transparency and accessibility)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843176"/>
      </p:ext>
    </p:extLst>
  </p:cSld>
  <p:clrMapOvr>
    <a:masterClrMapping/>
  </p:clrMapOvr>
</p:sld>
</file>

<file path=ppt/theme/theme1.xml><?xml version="1.0" encoding="utf-8"?>
<a:theme xmlns:a="http://schemas.openxmlformats.org/drawingml/2006/main" name="MDE Logo and Blue Bar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DE Logo and Blue Bars" id="{50B3E52A-646F-4D4F-A9C8-6AAA38D3BC47}" vid="{56CC9127-2369-4928-8235-5F9A31BFC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342aa1eb-50eb-42f4-a6ac-5d9ca3df03a4">Draft</Status>
    <_ip_UnifiedCompliancePolicyUIAction xmlns="http://schemas.microsoft.com/sharepoint/v3" xsi:nil="true"/>
    <_ip_UnifiedCompliancePolicyProperties xmlns="http://schemas.microsoft.com/sharepoint/v3" xsi:nil="true"/>
    <TaxCatchAll xmlns="e4664c3e-f049-4574-bd7d-7499d2032cca" xsi:nil="true"/>
    <lcf76f155ced4ddcb4097134ff3c332f xmlns="342aa1eb-50eb-42f4-a6ac-5d9ca3df03a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602C377C708540A61539DE70A42C3C" ma:contentTypeVersion="22" ma:contentTypeDescription="Create a new document." ma:contentTypeScope="" ma:versionID="60d67fd904d8a7219bd24442528f3260">
  <xsd:schema xmlns:xsd="http://www.w3.org/2001/XMLSchema" xmlns:xs="http://www.w3.org/2001/XMLSchema" xmlns:p="http://schemas.microsoft.com/office/2006/metadata/properties" xmlns:ns1="http://schemas.microsoft.com/sharepoint/v3" xmlns:ns2="342aa1eb-50eb-42f4-a6ac-5d9ca3df03a4" xmlns:ns3="b46d5140-0062-43f9-8820-2f409c0c06c3" xmlns:ns4="e4664c3e-f049-4574-bd7d-7499d2032cca" targetNamespace="http://schemas.microsoft.com/office/2006/metadata/properties" ma:root="true" ma:fieldsID="3db733ac9744f766792b8748b656a900" ns1:_="" ns2:_="" ns3:_="" ns4:_="">
    <xsd:import namespace="http://schemas.microsoft.com/sharepoint/v3"/>
    <xsd:import namespace="342aa1eb-50eb-42f4-a6ac-5d9ca3df03a4"/>
    <xsd:import namespace="b46d5140-0062-43f9-8820-2f409c0c06c3"/>
    <xsd:import namespace="e4664c3e-f049-4574-bd7d-7499d2032cca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aa1eb-50eb-42f4-a6ac-5d9ca3df03a4" elementFormDefault="qualified">
    <xsd:import namespace="http://schemas.microsoft.com/office/2006/documentManagement/types"/>
    <xsd:import namespace="http://schemas.microsoft.com/office/infopath/2007/PartnerControls"/>
    <xsd:element name="Status" ma:index="4" nillable="true" ma:displayName="Status" ma:default="Draft" ma:format="Dropdown" ma:internalName="Status" ma:readOnly="false">
      <xsd:simpleType>
        <xsd:restriction base="dms:Choice">
          <xsd:enumeration value="Draft"/>
          <xsd:enumeration value="Review"/>
          <xsd:enumeration value="Approved"/>
        </xsd:restriction>
      </xsd:simpleType>
    </xsd:element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c0d83692-8000-456c-81e0-753272234f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d5140-0062-43f9-8820-2f409c0c06c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64c3e-f049-4574-bd7d-7499d2032cca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fdd636ca-ce9a-43f5-b302-3ffdf28b5211}" ma:internalName="TaxCatchAll" ma:showField="CatchAllData" ma:web="f36b4f32-ad3a-49c4-a387-595e633051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0F0C4F-1DF2-4FC7-8F4F-99777C0AC3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ADF383-0851-4542-987B-59B1B18940B4}">
  <ds:schemaRefs>
    <ds:schemaRef ds:uri="http://purl.org/dc/elements/1.1/"/>
    <ds:schemaRef ds:uri="http://schemas.microsoft.com/office/2006/documentManagement/types"/>
    <ds:schemaRef ds:uri="http://schemas.microsoft.com/sharepoint/v3"/>
    <ds:schemaRef ds:uri="b46d5140-0062-43f9-8820-2f409c0c06c3"/>
    <ds:schemaRef ds:uri="http://purl.org/dc/terms/"/>
    <ds:schemaRef ds:uri="342aa1eb-50eb-42f4-a6ac-5d9ca3df03a4"/>
    <ds:schemaRef ds:uri="http://purl.org/dc/dcmitype/"/>
    <ds:schemaRef ds:uri="e4664c3e-f049-4574-bd7d-7499d2032cca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87815E-8082-43D1-9F79-A6E30FC81F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42aa1eb-50eb-42f4-a6ac-5d9ca3df03a4"/>
    <ds:schemaRef ds:uri="b46d5140-0062-43f9-8820-2f409c0c06c3"/>
    <ds:schemaRef ds:uri="e4664c3e-f049-4574-bd7d-7499d2032c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MDE Logo and Blue Bars</Template>
  <TotalTime>19413</TotalTime>
  <Words>1064</Words>
  <Application>Microsoft Office PowerPoint</Application>
  <PresentationFormat>Widescreen</PresentationFormat>
  <Paragraphs>185</Paragraphs>
  <Slides>26</Slides>
  <Notes>3</Notes>
  <HiddenSlides>8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Wingdings</vt:lpstr>
      <vt:lpstr>MDE Logo and Blue Bars</vt:lpstr>
      <vt:lpstr>Update on Michigan  Student Growth Metrics</vt:lpstr>
      <vt:lpstr>Today’s Problem &amp; Purpose</vt:lpstr>
      <vt:lpstr>PowerPoint Presentation</vt:lpstr>
      <vt:lpstr>PowerPoint Presentation</vt:lpstr>
      <vt:lpstr>Quick Refresher on Michigan’s Current Growth Model &amp; Uses</vt:lpstr>
      <vt:lpstr>State-Level Uses of Student Growth in Michigan</vt:lpstr>
      <vt:lpstr>Overview of Student Growth in Michigan</vt:lpstr>
      <vt:lpstr>Growth Metric Definitions</vt:lpstr>
      <vt:lpstr>Current Growth Target Methods</vt:lpstr>
      <vt:lpstr>Growth Target Methods by Assessment</vt:lpstr>
      <vt:lpstr>Growth Target Method Precision</vt:lpstr>
      <vt:lpstr>Growth Target Timeframes</vt:lpstr>
      <vt:lpstr>DRC Explorations</vt:lpstr>
      <vt:lpstr>Data</vt:lpstr>
      <vt:lpstr>Models</vt:lpstr>
      <vt:lpstr>Next Steps/Considerations </vt:lpstr>
      <vt:lpstr>MDE Nearest Grade Average</vt:lpstr>
      <vt:lpstr>Dusting Off Nearest Grade Average Method</vt:lpstr>
      <vt:lpstr>Method Precision Revisited</vt:lpstr>
      <vt:lpstr>Nearest Grade Average Changes  Alignment Checks &amp; Impact Evaluation</vt:lpstr>
      <vt:lpstr>Content Areas Model Alignment Growth Index Scatter</vt:lpstr>
      <vt:lpstr>Content Area Model Application Growth Index Scatter</vt:lpstr>
      <vt:lpstr>English Learner Model Alignment Growth Index Scatter</vt:lpstr>
      <vt:lpstr>English Learner Model Application Growth Index Scatter</vt:lpstr>
      <vt:lpstr>NGA Application Summary </vt:lpstr>
      <vt:lpstr>Discussion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Bailey, Chad (MDE)</dc:creator>
  <cp:lastModifiedBy>Holcomb, Kelley (MDE)</cp:lastModifiedBy>
  <cp:revision>110</cp:revision>
  <dcterms:created xsi:type="dcterms:W3CDTF">2017-11-14T16:38:53Z</dcterms:created>
  <dcterms:modified xsi:type="dcterms:W3CDTF">2026-04-22T14:48:48Z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0x01010051602C377C708540A61539DE70A42C3C</vt:lpwstr>
  </property>
  <property fmtid="{D5CDD505-2E9C-101B-9397-08002B2CF9AE}" pid="3" name="MSIP_Label_3a2fed65-62e7-46ea-af74-187e0c17143a_Enabled">
    <vt:lpwstr>true</vt:lpwstr>
  </property>
  <property fmtid="{D5CDD505-2E9C-101B-9397-08002B2CF9AE}" pid="4" name="MSIP_Label_3a2fed65-62e7-46ea-af74-187e0c17143a_SetDate">
    <vt:lpwstr>2022-01-27T19:58:57Z</vt:lpwstr>
  </property>
  <property fmtid="{D5CDD505-2E9C-101B-9397-08002B2CF9AE}" pid="5" name="MSIP_Label_3a2fed65-62e7-46ea-af74-187e0c17143a_Method">
    <vt:lpwstr>Privileged</vt:lpwstr>
  </property>
  <property fmtid="{D5CDD505-2E9C-101B-9397-08002B2CF9AE}" pid="6" name="MSIP_Label_3a2fed65-62e7-46ea-af74-187e0c17143a_Name">
    <vt:lpwstr>3a2fed65-62e7-46ea-af74-187e0c17143a</vt:lpwstr>
  </property>
  <property fmtid="{D5CDD505-2E9C-101B-9397-08002B2CF9AE}" pid="7" name="MSIP_Label_3a2fed65-62e7-46ea-af74-187e0c17143a_SiteId">
    <vt:lpwstr>d5fb7087-3777-42ad-966a-892ef47225d1</vt:lpwstr>
  </property>
  <property fmtid="{D5CDD505-2E9C-101B-9397-08002B2CF9AE}" pid="8" name="MSIP_Label_3a2fed65-62e7-46ea-af74-187e0c17143a_ActionId">
    <vt:lpwstr>6dffa298-5636-4600-aeea-d50a053cd9d9</vt:lpwstr>
  </property>
  <property fmtid="{D5CDD505-2E9C-101B-9397-08002B2CF9AE}" pid="9" name="MSIP_Label_3a2fed65-62e7-46ea-af74-187e0c17143a_ContentBits">
    <vt:lpwstr>0</vt:lpwstr>
  </property>
  <property fmtid="{D5CDD505-2E9C-101B-9397-08002B2CF9AE}" pid="10" name="MediaServiceImageTags">
    <vt:lpwstr/>
  </property>
</Properties>
</file>